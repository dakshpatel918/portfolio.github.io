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Strategic Acquisition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Hypothetical US Consumer / Retail M&amp;A | Investment Banking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Investment Banking Portfolio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Illustrative acquisition thesis: combine a scaled strategic buyer with a differentiated consumer platform to create revenue synergies, cost efficiencies and stronger omnichannel reach.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Investment Banking Portfolio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Target 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Business model</a:t>
            </a:r>
          </a:p>
          <a:p>
            <a:pPr>
              <a:spcAft>
                <a:spcPts val="1000"/>
              </a:spcAft>
              <a:defRPr sz="1800"/>
            </a:pPr>
            <a:r>
              <a:t>• customer proposition</a:t>
            </a:r>
          </a:p>
          <a:p>
            <a:pPr>
              <a:spcAft>
                <a:spcPts val="1000"/>
              </a:spcAft>
              <a:defRPr sz="1800"/>
            </a:pPr>
            <a:r>
              <a:t>• revenue mix</a:t>
            </a:r>
          </a:p>
          <a:p>
            <a:pPr>
              <a:spcAft>
                <a:spcPts val="1000"/>
              </a:spcAft>
              <a:defRPr sz="1800"/>
            </a:pPr>
            <a:r>
              <a:t>• geographic footprint</a:t>
            </a:r>
          </a:p>
          <a:p>
            <a:pPr>
              <a:spcAft>
                <a:spcPts val="1000"/>
              </a:spcAft>
              <a:defRPr sz="1800"/>
            </a:pPr>
            <a:r>
              <a:t>• competitive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Investment Banking Portfolio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Industry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Market growth</a:t>
            </a:r>
          </a:p>
          <a:p>
            <a:pPr>
              <a:spcAft>
                <a:spcPts val="1000"/>
              </a:spcAft>
              <a:defRPr sz="1800"/>
            </a:pPr>
            <a:r>
              <a:t>• competitive intensity</a:t>
            </a:r>
          </a:p>
          <a:p>
            <a:pPr>
              <a:spcAft>
                <a:spcPts val="1000"/>
              </a:spcAft>
              <a:defRPr sz="1800"/>
            </a:pPr>
            <a:r>
              <a:t>• consolidation</a:t>
            </a:r>
          </a:p>
          <a:p>
            <a:pPr>
              <a:spcAft>
                <a:spcPts val="1000"/>
              </a:spcAft>
              <a:defRPr sz="1800"/>
            </a:pPr>
            <a:r>
              <a:t>• consumer trends</a:t>
            </a:r>
          </a:p>
          <a:p>
            <a:pPr>
              <a:spcAft>
                <a:spcPts val="1000"/>
              </a:spcAft>
              <a:defRPr sz="1800"/>
            </a:pPr>
            <a:r>
              <a:t>• digital penetration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Investment Banking Portfolio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Historical Financial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Revenue growth</a:t>
            </a:r>
          </a:p>
          <a:p>
            <a:pPr>
              <a:spcAft>
                <a:spcPts val="1000"/>
              </a:spcAft>
              <a:defRPr sz="1800"/>
            </a:pPr>
            <a:r>
              <a:t>• EBITDA margin</a:t>
            </a:r>
          </a:p>
          <a:p>
            <a:pPr>
              <a:spcAft>
                <a:spcPts val="1000"/>
              </a:spcAft>
              <a:defRPr sz="1800"/>
            </a:pPr>
            <a:r>
              <a:t>• EPS</a:t>
            </a:r>
          </a:p>
          <a:p>
            <a:pPr>
              <a:spcAft>
                <a:spcPts val="1000"/>
              </a:spcAft>
              <a:defRPr sz="1800"/>
            </a:pPr>
            <a:r>
              <a:t>• cash flow</a:t>
            </a:r>
          </a:p>
          <a:p>
            <a:pPr>
              <a:spcAft>
                <a:spcPts val="1000"/>
              </a:spcAft>
              <a:defRPr sz="1800"/>
            </a:pPr>
            <a:r>
              <a:t>• leverage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Investment Banking Portfolio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Trading Comparables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EV/Revenue</a:t>
            </a:r>
          </a:p>
          <a:p>
            <a:pPr>
              <a:spcAft>
                <a:spcPts val="1000"/>
              </a:spcAft>
              <a:defRPr sz="1800"/>
            </a:pPr>
            <a:r>
              <a:t>• EV/EBITDA</a:t>
            </a:r>
          </a:p>
          <a:p>
            <a:pPr>
              <a:spcAft>
                <a:spcPts val="1000"/>
              </a:spcAft>
              <a:defRPr sz="1800"/>
            </a:pPr>
            <a:r>
              <a:t>• P/E</a:t>
            </a:r>
          </a:p>
          <a:p>
            <a:pPr>
              <a:spcAft>
                <a:spcPts val="1000"/>
              </a:spcAft>
              <a:defRPr sz="1800"/>
            </a:pPr>
            <a:r>
              <a:t>• growth and margin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Investment Banking Portfolio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Precedent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Selected sector transactions</a:t>
            </a:r>
          </a:p>
          <a:p>
            <a:pPr>
              <a:spcAft>
                <a:spcPts val="1000"/>
              </a:spcAft>
              <a:defRPr sz="1800"/>
            </a:pPr>
            <a:r>
              <a:t>• announced premiums</a:t>
            </a:r>
          </a:p>
          <a:p>
            <a:pPr>
              <a:spcAft>
                <a:spcPts val="1000"/>
              </a:spcAft>
              <a:defRPr sz="1800"/>
            </a:pPr>
            <a:r>
              <a:t>• transaction multiples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Investment Banking Portfolio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Valuation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DCF / trading comps / precedents triangulation with illustrative valuation 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Investment Banking Portfolio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Potential Buyers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Strategic acquirers</a:t>
            </a:r>
          </a:p>
          <a:p>
            <a:pPr>
              <a:spcAft>
                <a:spcPts val="1000"/>
              </a:spcAft>
              <a:defRPr sz="1800"/>
            </a:pPr>
            <a:r>
              <a:t>• sponsor buyers</a:t>
            </a:r>
          </a:p>
          <a:p>
            <a:pPr>
              <a:spcAft>
                <a:spcPts val="1000"/>
              </a:spcAft>
              <a:defRPr sz="1800"/>
            </a:pPr>
            <a:r>
              <a:t>• rationale</a:t>
            </a:r>
          </a:p>
          <a:p>
            <a:pPr>
              <a:spcAft>
                <a:spcPts val="1000"/>
              </a:spcAft>
              <a:defRPr sz="1800"/>
            </a:pPr>
            <a:r>
              <a:t>• ability to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Investment Banking Portfolio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Transaction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Cash / stock mix</a:t>
            </a:r>
          </a:p>
          <a:p>
            <a:pPr>
              <a:spcAft>
                <a:spcPts val="1000"/>
              </a:spcAft>
              <a:defRPr sz="1800"/>
            </a:pPr>
            <a:r>
              <a:t>• premium</a:t>
            </a:r>
          </a:p>
          <a:p>
            <a:pPr>
              <a:spcAft>
                <a:spcPts val="1000"/>
              </a:spcAft>
              <a:defRPr sz="1800"/>
            </a:pPr>
            <a:r>
              <a:t>• financing</a:t>
            </a:r>
          </a:p>
          <a:p>
            <a:pPr>
              <a:spcAft>
                <a:spcPts val="1000"/>
              </a:spcAft>
              <a:defRPr sz="1800"/>
            </a:pPr>
            <a:r>
              <a:t>• pro forma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Investment Banking Portfolio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Synergy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Cost saves</a:t>
            </a:r>
          </a:p>
          <a:p>
            <a:pPr>
              <a:spcAft>
                <a:spcPts val="1000"/>
              </a:spcAft>
              <a:defRPr sz="1800"/>
            </a:pPr>
            <a:r>
              <a:t>• revenue synergies</a:t>
            </a:r>
          </a:p>
          <a:p>
            <a:pPr>
              <a:spcAft>
                <a:spcPts val="1000"/>
              </a:spcAft>
              <a:defRPr sz="1800"/>
            </a:pPr>
            <a:r>
              <a:t>• implementation costs</a:t>
            </a:r>
          </a:p>
          <a:p>
            <a:pPr>
              <a:spcAft>
                <a:spcPts val="1000"/>
              </a:spcAft>
              <a:defRPr sz="1800"/>
            </a:pPr>
            <a:r>
              <a:t>•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Investment Banking Portfolio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Accretion / Dilution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EPS impact</a:t>
            </a:r>
          </a:p>
          <a:p>
            <a:pPr>
              <a:spcAft>
                <a:spcPts val="1000"/>
              </a:spcAft>
              <a:defRPr sz="1800"/>
            </a:pPr>
            <a:r>
              <a:t>• synergy breakeven</a:t>
            </a:r>
          </a:p>
          <a:p>
            <a:pPr>
              <a:spcAft>
                <a:spcPts val="1000"/>
              </a:spcAft>
              <a:defRPr sz="1800"/>
            </a:pPr>
            <a:r>
              <a:t>• financing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Investment Banking Portfolio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Strategic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Scale</a:t>
            </a:r>
          </a:p>
          <a:p>
            <a:pPr>
              <a:spcAft>
                <a:spcPts val="1000"/>
              </a:spcAft>
              <a:defRPr sz="1800"/>
            </a:pPr>
            <a:r>
              <a:t>• distribution</a:t>
            </a:r>
          </a:p>
          <a:p>
            <a:pPr>
              <a:spcAft>
                <a:spcPts val="1000"/>
              </a:spcAft>
              <a:defRPr sz="1800"/>
            </a:pPr>
            <a:r>
              <a:t>• cross-sell</a:t>
            </a:r>
          </a:p>
          <a:p>
            <a:pPr>
              <a:spcAft>
                <a:spcPts val="1000"/>
              </a:spcAft>
              <a:defRPr sz="1800"/>
            </a:pPr>
            <a:r>
              <a:t>• technology</a:t>
            </a:r>
          </a:p>
          <a:p>
            <a:pPr>
              <a:spcAft>
                <a:spcPts val="1000"/>
              </a:spcAft>
              <a:defRPr sz="1800"/>
            </a:pPr>
            <a:r>
              <a:t>• procurement</a:t>
            </a:r>
          </a:p>
          <a:p>
            <a:pPr>
              <a:spcAft>
                <a:spcPts val="1000"/>
              </a:spcAft>
              <a:defRPr sz="1800"/>
            </a:pPr>
            <a:r>
              <a:t>• market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Investment Banking Portfolio |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Key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Regulatory</a:t>
            </a:r>
          </a:p>
          <a:p>
            <a:pPr>
              <a:spcAft>
                <a:spcPts val="1000"/>
              </a:spcAft>
              <a:defRPr sz="1800"/>
            </a:pPr>
            <a:r>
              <a:t>• integration</a:t>
            </a:r>
          </a:p>
          <a:p>
            <a:pPr>
              <a:spcAft>
                <a:spcPts val="1000"/>
              </a:spcAft>
              <a:defRPr sz="1800"/>
            </a:pPr>
            <a:r>
              <a:t>• customer attrition</a:t>
            </a:r>
          </a:p>
          <a:p>
            <a:pPr>
              <a:spcAft>
                <a:spcPts val="1000"/>
              </a:spcAft>
              <a:defRPr sz="1800"/>
            </a:pPr>
            <a:r>
              <a:t>• synergy execution</a:t>
            </a:r>
          </a:p>
          <a:p>
            <a:pPr>
              <a:spcAft>
                <a:spcPts val="1000"/>
              </a:spcAft>
              <a:defRPr sz="1800"/>
            </a:pPr>
            <a:r>
              <a:t>• financing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Investment Banking Portfolio |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Process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Management alignment</a:t>
            </a:r>
          </a:p>
          <a:p>
            <a:pPr>
              <a:spcAft>
                <a:spcPts val="1000"/>
              </a:spcAft>
              <a:defRPr sz="1800"/>
            </a:pPr>
            <a:r>
              <a:t>• diligence</a:t>
            </a:r>
          </a:p>
          <a:p>
            <a:pPr>
              <a:spcAft>
                <a:spcPts val="1000"/>
              </a:spcAft>
              <a:defRPr sz="1800"/>
            </a:pPr>
            <a:r>
              <a:t>• valuation</a:t>
            </a:r>
          </a:p>
          <a:p>
            <a:pPr>
              <a:spcAft>
                <a:spcPts val="1000"/>
              </a:spcAft>
              <a:defRPr sz="1800"/>
            </a:pPr>
            <a:r>
              <a:t>• outreach</a:t>
            </a:r>
          </a:p>
          <a:p>
            <a:pPr>
              <a:spcAft>
                <a:spcPts val="1000"/>
              </a:spcAft>
              <a:defRPr sz="1800"/>
            </a:pPr>
            <a:r>
              <a:t>• negotiation</a:t>
            </a:r>
          </a:p>
          <a:p>
            <a:pPr>
              <a:spcAft>
                <a:spcPts val="1000"/>
              </a:spcAft>
              <a:defRPr sz="1800"/>
            </a:pPr>
            <a:r>
              <a:t>• signing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Investment Banking Portfolio |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Proceed to targeted diligence if valuation discipline and synergy confidence support attractive risk-adjusted returns.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Investment Banking Portfolio | Slide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